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D1B2A"/>
                </a:solidFill>
                <a:latin typeface="Arial"/>
              </a:rPr>
              <a:t>Corpus Split (21,860 Total)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965"/>
              </a:solidFill>
              <a:effectLst/>
            </c:spPr>
          </c:dPt>
          <c:dPt>
            <c:idx val="1"/>
            <c:bubble3D val="0"/>
            <c:spPr>
              <a:solidFill>
                <a:srgbClr val="5FA8D3"/>
              </a:solidFill>
              <a:effectLst/>
            </c:spPr>
          </c:dPt>
          <c:dPt>
            <c:idx val="2"/>
            <c:bubble3D val="0"/>
            <c:spPr>
              <a:solidFill>
                <a:srgbClr val="EF476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Training (70.8%)</c:v>
                </c:pt>
                <c:pt idx="1">
                  <c:v>Validation (14.6%)</c:v>
                </c:pt>
                <c:pt idx="2">
                  <c:v>Test Holdout (14.6%)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15483</c:v>
                </c:pt>
                <c:pt idx="1">
                  <c:v>3188</c:v>
                </c:pt>
                <c:pt idx="2">
                  <c:v>3189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7F9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TreeSHAP Impact</c:v>
                </c:pt>
              </c:strCache>
            </c:strRef>
          </c:tx>
          <c:spPr>
            <a:solidFill>
              <a:srgbClr val="1B496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496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496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496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496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496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4965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uppercase_ratio</c:v>
                  </c:pt>
                  <c:pt idx="1">
                    <c:v>sender_brand_mismatch</c:v>
                  </c:pt>
                  <c:pt idx="2">
                    <c:v>brand_mention</c:v>
                  </c:pt>
                  <c:pt idx="3">
                    <c:v>display_from_mismatch</c:v>
                  </c:pt>
                  <c:pt idx="4">
                    <c:v>url_entropy</c:v>
                  </c:pt>
                  <c:pt idx="5">
                    <c:v>body_length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</c:v>
                </c:pt>
                <c:pt idx="1">
                  <c:v>61</c:v>
                </c:pt>
                <c:pt idx="2">
                  <c:v>68</c:v>
                </c:pt>
                <c:pt idx="3">
                  <c:v>76</c:v>
                </c:pt>
                <c:pt idx="4">
                  <c:v>87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4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B"/>
        </a:solidFill>
        <a:ln>
          <a:noFill/>
        </a:ln>
        <a:effectLst/>
      </c:spPr>
    </c:plotArea>
    <c:plotVisOnly val="1"/>
    <c:dispBlanksAs val="span"/>
  </c:chart>
  <c:spPr>
    <a:solidFill>
      <a:srgbClr val="F7F9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Phishing Recall</c:v>
                </c:pt>
              </c:strCache>
            </c:strRef>
          </c:tx>
          <c:spPr>
            <a:solidFill>
              <a:srgbClr val="5B6B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LightGBM (Champion)</c:v>
                  </c:pt>
                  <c:pt idx="2">
                    <c:v>RoBERTa Hybrid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94.38</c:v>
                </c:pt>
                <c:pt idx="1">
                  <c:v>98.01</c:v>
                </c:pt>
                <c:pt idx="2">
                  <c:v>97.01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Overall Accuracy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LightGBM (Champion)</c:v>
                  </c:pt>
                  <c:pt idx="2">
                    <c:v>RoBERTa Hybrid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94.4</c:v>
                </c:pt>
                <c:pt idx="1">
                  <c:v>97.62</c:v>
                </c:pt>
                <c:pt idx="2">
                  <c:v>94.86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Phishing Precision</c:v>
                </c:pt>
              </c:strCache>
            </c:strRef>
          </c:tx>
          <c:spPr>
            <a:solidFill>
              <a:srgbClr val="5FA8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LightGBM (Champion)</c:v>
                  </c:pt>
                  <c:pt idx="2">
                    <c:v>RoBERTa Hybrid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93.56</c:v>
                </c:pt>
                <c:pt idx="1">
                  <c:v>97.55</c:v>
                </c:pt>
                <c:pt idx="2">
                  <c:v>93.62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424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12700" cap="flat">
              <a:solidFill>
                <a:srgbClr val="E1E7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Percent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7F9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91440" cy="91440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1371600"/>
            <a:ext cx="64008" cy="64008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4" name="Shape 2"/>
          <p:cNvSpPr/>
          <p:nvPr/>
        </p:nvSpPr>
        <p:spPr>
          <a:xfrm>
            <a:off x="9235440" y="1554480"/>
            <a:ext cx="54864" cy="54864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914400"/>
            <a:ext cx="73152" cy="73152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0" y="1645920"/>
            <a:ext cx="91440" cy="91440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0" y="2011680"/>
            <a:ext cx="54864" cy="54864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8" name="Shape 6"/>
          <p:cNvSpPr/>
          <p:nvPr/>
        </p:nvSpPr>
        <p:spPr>
          <a:xfrm>
            <a:off x="9738360" y="868680"/>
            <a:ext cx="594360" cy="502920"/>
          </a:xfrm>
          <a:prstGeom prst="line">
            <a:avLst/>
          </a:prstGeom>
          <a:noFill/>
          <a:ln w="9525">
            <a:solidFill>
              <a:srgbClr val="5FA8D3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51008" y="1399032"/>
            <a:ext cx="530352" cy="246888"/>
          </a:xfrm>
          <a:prstGeom prst="line">
            <a:avLst/>
          </a:prstGeom>
          <a:noFill/>
          <a:ln w="9525">
            <a:solidFill>
              <a:srgbClr val="5FA8D3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960120"/>
            <a:ext cx="365760" cy="685800"/>
          </a:xfrm>
          <a:prstGeom prst="line">
            <a:avLst/>
          </a:prstGeom>
          <a:noFill/>
          <a:ln w="9525">
            <a:solidFill>
              <a:srgbClr val="5FA8D3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SOC DEFENSE PLATFORM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Email Triage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94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Reframing phishing detection as a triage problem — isolating the exact decision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where analyst time is wasted, at 98.01% phishing recall.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2423160" cy="1051560"/>
          </a:xfrm>
          <a:prstGeom prst="roundRect">
            <a:avLst>
              <a:gd name="adj" fmla="val 6087"/>
            </a:avLst>
          </a:prstGeom>
          <a:solidFill>
            <a:srgbClr val="1B496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184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98.01%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733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Recall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5074920"/>
            <a:ext cx="2423160" cy="1051560"/>
          </a:xfrm>
          <a:prstGeom prst="roundRect">
            <a:avLst>
              <a:gd name="adj" fmla="val 6087"/>
            </a:avLst>
          </a:prstGeom>
          <a:solidFill>
            <a:srgbClr val="1B496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291840" y="5184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97.62%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5733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0" y="5074920"/>
            <a:ext cx="2423160" cy="1051560"/>
          </a:xfrm>
          <a:prstGeom prst="roundRect">
            <a:avLst>
              <a:gd name="adj" fmla="val 6087"/>
            </a:avLst>
          </a:prstGeom>
          <a:solidFill>
            <a:srgbClr val="1B49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0" y="5184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 ms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5733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Inference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595360" y="5074920"/>
            <a:ext cx="2423160" cy="1051560"/>
          </a:xfrm>
          <a:prstGeom prst="roundRect">
            <a:avLst>
              <a:gd name="adj" fmla="val 6087"/>
            </a:avLst>
          </a:prstGeom>
          <a:solidFill>
            <a:srgbClr val="1B496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95360" y="51846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8595360" y="573328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Triage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THE OPERATIONAL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Buried in Noise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Gateway Blindspots — SEGs like Proofpoint and Microsoft Defender filter known malware, but spear-phishing pretexts and aggressive marketing still reach the inbox.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Over-Reporting — security awareness training tells staff to report anything unusual, flooding the queue with harmless mail.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Queue Bottleneck — every submission requires manual header inspection, URL decoding, and sandbox detonation.</a:t>
            </a:r>
            <a:endParaRPr lang="en-US" sz="14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&amp; Threat Dilution — sorting benign marketing mail burns out analysts while real spear-phishing sits buried beneath the noise.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51960" cy="4846320"/>
          </a:xfrm>
          <a:prstGeom prst="roundRect">
            <a:avLst>
              <a:gd name="adj" fmla="val 2151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589520" y="17830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USER-REPORTED EMAIL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201168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3063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more, by internal review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34747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harmless commercial marketing spam, bulk newsletters, or routine notifications — not a real threat.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4526280"/>
            <a:ext cx="3337560" cy="0"/>
          </a:xfrm>
          <a:prstGeom prst="line">
            <a:avLst/>
          </a:prstGeom>
          <a:noFill/>
          <a:ln w="12700">
            <a:solidFill>
              <a:srgbClr val="2C41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47548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SOC analysts spend the majority of their time clearing noise instead of hunting real threats.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STRATEGIC 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Reframed Question Unlocks Precision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84048"/>
          </a:xfrm>
          <a:prstGeom prst="roundRect">
            <a:avLst>
              <a:gd name="adj" fmla="val 50000"/>
            </a:avLst>
          </a:prstGeom>
          <a:solidFill>
            <a:srgbClr val="5B6B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CONVENTIONAL FORMULATION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2402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4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 this inbound email legitimate corporate mail or malicious?"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fails: attempts to model the entire distribution of normal corporate communication across millions of employees — the false-positive surface is enormous.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384048"/>
          </a:xfrm>
          <a:prstGeom prst="roundRect">
            <a:avLst>
              <a:gd name="adj" fmla="val 50000"/>
            </a:avLst>
          </a:prstGeom>
          <a:solidFill>
            <a:srgbClr val="1B496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5087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REFRAMED FORMULATION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0D1B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24028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"Among emails employees already flagged as suspicious, which are nuisance spam and which are genuine phishing threats?"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38328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impact: narrowing scope to user-reported mail eliminates baseline corporate noise and isolates the exact boundary where analyst time is wasted.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85800" y="5440680"/>
            <a:ext cx="10789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98.01% Phishing Recall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93892"/>
            <a:ext cx="1078992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by narrowing the decision scope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ARCHITECTURE PRINCIPLE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2-Class Model, 3 Operational Outcomes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binary learning on Spam vs. Phishing only — no artificial "Ambiguous" label, which would introduce noise and blur decision boundaries.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 is an emergent runtime decision, triggered by the Confidence Layer on borderline predictions — not a trained class.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0D1B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User-Reported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88920" y="3835908"/>
            <a:ext cx="502920" cy="237744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3291840"/>
            <a:ext cx="2286000" cy="1325880"/>
          </a:xfrm>
          <a:prstGeom prst="roundRect">
            <a:avLst>
              <a:gd name="adj" fmla="val 5517"/>
            </a:avLst>
          </a:prstGeom>
          <a:solidFill>
            <a:srgbClr val="1B496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32918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Layer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3954780"/>
            <a:ext cx="457200" cy="0"/>
          </a:xfrm>
          <a:prstGeom prst="line">
            <a:avLst/>
          </a:prstGeom>
          <a:noFill/>
          <a:ln w="25400">
            <a:solidFill>
              <a:srgbClr val="5B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766060"/>
            <a:ext cx="0" cy="237744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766060"/>
            <a:ext cx="5029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228600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5FA8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23774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Auto-Suppress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880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Spam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64040" y="2656332"/>
            <a:ext cx="365760" cy="219456"/>
          </a:xfrm>
          <a:prstGeom prst="rightArrow">
            <a:avLst/>
          </a:prstGeom>
          <a:solidFill>
            <a:srgbClr val="5FA8D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21240" y="228600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954780"/>
            <a:ext cx="5029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34747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5B6B7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3566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Analyst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069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predictions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64040" y="3845052"/>
            <a:ext cx="365760" cy="219456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21240" y="347472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5143500"/>
            <a:ext cx="502920" cy="0"/>
          </a:xfrm>
          <a:prstGeom prst="line">
            <a:avLst/>
          </a:prstGeom>
          <a:noFill/>
          <a:ln w="19050">
            <a:solidFill>
              <a:srgbClr val="5B6B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46634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78040" y="4754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&amp; Block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52578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High-confidence Phishing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464040" y="5033772"/>
            <a:ext cx="365760" cy="219456"/>
          </a:xfrm>
          <a:prstGeom prst="rightArrow">
            <a:avLst/>
          </a:prstGeom>
          <a:solidFill>
            <a:srgbClr val="EF476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921240" y="46634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85800" y="5897880"/>
            <a:ext cx="51206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98.0%</a:t>
            </a:r>
            <a:endParaRPr lang="en-US" sz="2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6359652"/>
            <a:ext cx="5120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Recall — Non-Negotiable Target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72200" y="58064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4">
                <a:alpha val="2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309360" y="5897880"/>
            <a:ext cx="51206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50%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6359652"/>
            <a:ext cx="51206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Workload Reduction — Non-Negotiable Target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DATASET CONSTRUCTION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21,860 Clean Emails, Five Sources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uncontaminated test holdout — 3,189 real-world samples never seen during training or tuning.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532120" y="1371600"/>
            <a:ext cx="6080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 Phishing Corpus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1783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gold standard for credential harvesting &amp; spear-phishing lures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9418320" y="137160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~5,200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532120" y="2304288"/>
            <a:ext cx="6080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2377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IWSPA-AP 2018 / 2020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715000" y="2715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enterprise social engineering &amp; targeted credential capture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2304288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~4,800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532120" y="3236976"/>
            <a:ext cx="6080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3310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TREC 2007 Public Corpus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36484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commercial marketing spam &amp; bulk newsletters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9418320" y="3236976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~6,000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5532120" y="4169664"/>
            <a:ext cx="6080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5000" y="4242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 &amp; CEAS 2008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5811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nuisance mail &amp; benign transactional alerts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9418320" y="4169664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~4,500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532120" y="5102352"/>
            <a:ext cx="60807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715000" y="5175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Augmentation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5513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Training-only: brand mutations, typosquatting, wire-fraud lures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418320" y="5102352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47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~1,360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TRANSPARENT DISCLOSURE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Industry Data Scarcity Reality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enterprise phishing attacks contain active exploits, sensitive customer PII, corporate credentials, and classified threat intelligence — organizations cannot legally release live phishing streams.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academic and open-source research, organic verified phishing corpora top out at 5,000–8,000 unique samples.</a:t>
            </a:r>
            <a:endParaRPr lang="en-US" sz="145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14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~22,000-email dataset is the realistic public ceiling. This constraint directly informed our modeling strategy.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6400800" cy="1234440"/>
          </a:xfrm>
          <a:prstGeom prst="roundRect">
            <a:avLst>
              <a:gd name="adj" fmla="val 5926"/>
            </a:avLst>
          </a:prstGeom>
          <a:solidFill>
            <a:srgbClr val="1B49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5166360"/>
            <a:ext cx="5943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implication: this ceiling explains why gradient-boosted trees outperformed 125M-parameter transformers — and why a closed-loop feedback system is necessary to scale past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06640" y="1463040"/>
            <a:ext cx="4206240" cy="4846320"/>
          </a:xfrm>
          <a:prstGeom prst="roundRect">
            <a:avLst>
              <a:gd name="adj" fmla="val 2174"/>
            </a:avLst>
          </a:prstGeom>
          <a:solidFill>
            <a:srgbClr val="132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3524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PHISHING CEILING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19659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5,000–8,000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samples, industry-wide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3200400"/>
            <a:ext cx="3291840" cy="0"/>
          </a:xfrm>
          <a:prstGeom prst="line">
            <a:avLst/>
          </a:prstGeom>
          <a:noFill/>
          <a:ln w="12700">
            <a:solidFill>
              <a:srgbClr val="2C41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35240" y="3383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CLEAN CORPUS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611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21,860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via multi-source aggregation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targeted synthetic augmentation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DATASET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Proactive Dataset Integrity Gates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184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Cross-Split Deduplication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 purged 100% of duplicate emails across train/val/test.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64592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16184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Quarantine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331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attacks restricted strictly to training — zero in val/test.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417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64592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6184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Leakage Removal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331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internal tags &amp; source IDs so models can't take shortcuts.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9959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Class &amp; Length Splits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ratios and length distributions across partitions.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02336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177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39959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Post-Split Feature Verification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extractors run deterministically without split leakage.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379476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023360"/>
            <a:ext cx="502920" cy="50292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58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99592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Schema Consistency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458200" y="470916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parser output matches live production data streams exactly.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FEATURE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Security Signals + 50,000 Lexical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text models miss structural signals (weaponized attachments, spoofed names); pure rule engines miss semantic nuance. We fuse both to mirror how a Tier-1 analyst reads an email.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Structure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18745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display_from_mismatch · reply_to_mismatch · free_email_sender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18745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spoofed executive names and external webmail routing.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EF2F6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0604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Host Threat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6060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url_entropy · typosquatting · ip_literal_url · suspicious_tld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60604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flags DGA domains; Levenshtein flags brand typosquatting.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33756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&amp; Threat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333756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has_attachment · executable_detected · macro_detected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7269480" y="33375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weaponized payloads; triggers hard overrides regardless of body text.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EEF2F6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0690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063240" y="40690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body_length · uppercase_ratio · punctuation_density · link_density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40690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urgency capitalization and unusual link density.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642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80060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Abuse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063240" y="480060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49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brand_mention · sender_brand_mismatch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48006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mentioned brands against authenticated sender domains.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052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layer: 50,000 unigram/bigram TF-IDF features with sublinear scaling 1 + log(tf) — dampens repeated words in disclaimers, highlights rare high-intent phishing terms.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EXPLAINABILITY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TreeSHAP: What Drives Every Decision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2104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DRIVERS, RANKED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body_length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0391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8321040" y="2404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url_entropy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660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Threat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32104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display_from_mismatch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2826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Structure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3648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brand_mention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39044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Abuse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sender_brand_mismatch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4526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Abuse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4892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uppercase_ratio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321040" y="5148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Statistic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56052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marginal feature attribution — every ticket ships with a plain-language justification.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BENCHMARK TRUTH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 Paradigms, One Uncontaminated Test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247778"/>
            <a:ext cx="11064240" cy="0"/>
          </a:xfrm>
          <a:prstGeom prst="line">
            <a:avLst/>
          </a:prstGeom>
          <a:noFill/>
          <a:ln w="15875">
            <a:solidFill>
              <a:srgbClr val="EF476F"/>
            </a:solidFill>
            <a:prstDash val="dash"/>
          </a:ln>
        </p:spPr>
      </p:sp>
      <p:sp>
        <p:nvSpPr>
          <p:cNvPr id="6" name="Text 3"/>
          <p:cNvSpPr txBox="1"/>
          <p:nvPr/>
        </p:nvSpPr>
        <p:spPr>
          <a:xfrm>
            <a:off x="9692640" y="197345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 Phishing Recall Gate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532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Triage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2514600" y="55321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82.8%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5532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98.8%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5532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94.4%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430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 Rate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2514600" y="58430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17.2%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5843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1.2%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5843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5.6%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15391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4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 (CPU)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514600" y="61539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 ms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40680" y="6153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~11.8 ms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8641080" y="6153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~510 ms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SELECTION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LightGBM Is the Production Champion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6184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Compliance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19456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candidate crossing the mandatory 98.0% recall gate (98.01%) — false negatives carry catastrophic enterprise risk.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67335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61848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Compression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219456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 autonomous triage rate leaves just 1.2% of volume for manual review.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4787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93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Efficiency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06908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11.8ms on standard CPU hardware — no dedicated GPU clustering required.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2918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547872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493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Explainability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06908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TreeSHAP attribution for every ticket, satisfying regulatory governance.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55778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disclosure: 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788920" y="55778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sits at ~0.44 across all three models — spam/phishing vocabulary is hyper-separable, so cross-entropy pushes probabilities to extremes. Discriminative sorting is near-perfect (ROC-AUC 0.9845); the composite Trust Score, not raw probability, governs routing.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CONFIDENCE ROUTING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Dual-Signal Trust Score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probabilities cannot be trusted as absolute confidence due to calibration error. We combine maximum probability with prediction margin.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2103120"/>
            <a:ext cx="9601200" cy="1371600"/>
          </a:xfrm>
          <a:prstGeom prst="roundRect">
            <a:avLst>
              <a:gd name="adj" fmla="val 6667"/>
            </a:avLst>
          </a:prstGeom>
          <a:solidFill>
            <a:srgbClr val="1B49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103120"/>
            <a:ext cx="9235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Score = </a:t>
            </a:r>
            <a:pPr algn="ctr" indent="0" marL="0">
              <a:buNone/>
            </a:pPr>
            <a:r>
              <a:rPr lang="en-US" sz="22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( 0.60 × max(P</a:t>
            </a:r>
            <a:pPr algn="ct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</a:t>
            </a:r>
            <a:pPr algn="ctr" indent="0" marL="0">
              <a:buNone/>
            </a:pPr>
            <a:r>
              <a:rPr lang="en-US" sz="22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P</a:t>
            </a:r>
            <a:pPr algn="ct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</a:t>
            </a:r>
            <a:pPr algn="ctr" indent="0" marL="0">
              <a:buNone/>
            </a:pPr>
            <a:r>
              <a:rPr lang="en-US" sz="22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+ 0.40 × |P</a:t>
            </a:r>
            <a:pPr algn="ct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</a:t>
            </a:r>
            <a:pPr algn="ctr" indent="0" marL="0">
              <a:buNone/>
            </a:pPr>
            <a:r>
              <a:rPr lang="en-US" sz="22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− P</a:t>
            </a:r>
            <a:pPr algn="ctr"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</a:t>
            </a:r>
            <a:pPr algn="ctr" indent="0" marL="0">
              <a:buNone/>
            </a:pPr>
            <a:r>
              <a:rPr lang="en-US" sz="22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) × 100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132A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PROBABILITY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976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max(P(phish), P(spam)) — measures raw model confidence in the winning class.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3794760"/>
            <a:ext cx="5212080" cy="2468880"/>
          </a:xfrm>
          <a:prstGeom prst="roundRect">
            <a:avLst>
              <a:gd name="adj" fmla="val 2963"/>
            </a:avLst>
          </a:prstGeom>
          <a:solidFill>
            <a:srgbClr val="132A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39776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MARGIN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42976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|P(phish) − P(spam)| — a split prediction (55% vs 45%) has a tiny margin (0.10), severely penalizing trust and forcing human review.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OPERATIONAL ROUTING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Four-Tier Routing Spectrum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B49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Auto-suppress spam / auto-block phishing. Covers 98.8% of daily queue.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173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3E7C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75–90%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+ Audit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routing with passive audit logging for QA sampling.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5FA8D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55–75%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Tier-2 queue with full TreeSHAP evidence.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15400" y="14173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EF476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98280" y="15819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18562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55%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2377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0175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top-of-queue manual triage for conflicting signals.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0D1B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ZERO-TOLERANCE SECURITY OVERRIDE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02920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at a low trust score, dangerous indicator combinations bypass the review queue entirely and escalate directly to quarantine — ensuring high-weight weaponized attacks are never trapped behind review delays.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4754880"/>
            <a:ext cx="4617720" cy="1325880"/>
          </a:xfrm>
          <a:prstGeom prst="roundRect">
            <a:avLst>
              <a:gd name="adj" fmla="val 4138"/>
            </a:avLst>
          </a:prstGeom>
          <a:solidFill>
            <a:srgbClr val="132A3D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49440" y="4754880"/>
            <a:ext cx="4251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P(Phishing) &gt; 0.70 AND (IP URL OR Typosquatting OR Executable/Macro)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⇒ IMMEDIATE QUARANTINE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THE SOC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Analyst-Centric Operational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733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Inbound Triage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RFC-822 MIME parser, sub-15ms classification, trust score assignment, dual-engine toggle (LightGBM vs. RoBERTa).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4965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6733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 Console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33172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Tier-2 workspace for the 1.2% borderline cases with side-by-side header inspection and one-click override.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1B4965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9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 Audit Ledger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54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threat justifications, per-ticket TreeSHAP contributions, full CSV/JSON audit reporting.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0D1B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114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0965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Supervision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754880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7-day volume tracking, auto-alerting past 20% override rate, hot model promotion with zero downtime.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CLOSED-LOOP LEARNING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Organic Solution to Data Scarcity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6824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Deferral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31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emails (&lt;75% trust) route to Tier-2 review.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6824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Ground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331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inspect evidence and record expert verdicts.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73736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168249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Hard-Example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3317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and feature vectors stored in ground truth store.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4343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4526280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44714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agreement tracked; alerts past 20% override rate.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4343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52628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262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4714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fine-tunes on accumulated hard edge cases with validation gates.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1E7ED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526280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447141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120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checkpoint reloads into active memory, zero downtime.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00500" y="2299716"/>
            <a:ext cx="320040" cy="201168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35" name="Shape 33"/>
          <p:cNvSpPr/>
          <p:nvPr/>
        </p:nvSpPr>
        <p:spPr>
          <a:xfrm>
            <a:off x="7795260" y="2299716"/>
            <a:ext cx="320040" cy="201168"/>
          </a:xfrm>
          <a:prstGeom prst="rightArrow">
            <a:avLst/>
          </a:prstGeom>
          <a:solidFill>
            <a:srgbClr val="5B6B7A"/>
          </a:solidFill>
          <a:ln/>
        </p:spPr>
      </p:sp>
      <p:sp>
        <p:nvSpPr>
          <p:cNvPr id="36" name="Shape 34"/>
          <p:cNvSpPr/>
          <p:nvPr/>
        </p:nvSpPr>
        <p:spPr>
          <a:xfrm>
            <a:off x="9692640" y="3634740"/>
            <a:ext cx="201168" cy="320040"/>
          </a:xfrm>
          <a:prstGeom prst="downArrow">
            <a:avLst/>
          </a:prstGeom>
          <a:solidFill>
            <a:srgbClr val="5B6B7A"/>
          </a:solidFill>
          <a:ln/>
        </p:spPr>
      </p:sp>
      <p:sp>
        <p:nvSpPr>
          <p:cNvPr id="37" name="Shape 35"/>
          <p:cNvSpPr/>
          <p:nvPr/>
        </p:nvSpPr>
        <p:spPr>
          <a:xfrm>
            <a:off x="7795260" y="5088636"/>
            <a:ext cx="320040" cy="201168"/>
          </a:xfrm>
          <a:prstGeom prst="leftArrow">
            <a:avLst/>
          </a:prstGeom>
          <a:solidFill>
            <a:srgbClr val="5B6B7A"/>
          </a:solidFill>
          <a:ln/>
        </p:spPr>
      </p:sp>
      <p:sp>
        <p:nvSpPr>
          <p:cNvPr id="38" name="Shape 36"/>
          <p:cNvSpPr/>
          <p:nvPr/>
        </p:nvSpPr>
        <p:spPr>
          <a:xfrm>
            <a:off x="4000500" y="5088636"/>
            <a:ext cx="320040" cy="201168"/>
          </a:xfrm>
          <a:prstGeom prst="leftArrow">
            <a:avLst/>
          </a:prstGeom>
          <a:solidFill>
            <a:srgbClr val="5B6B7A"/>
          </a:solidFill>
          <a:ln/>
        </p:spPr>
      </p:sp>
      <p:sp>
        <p:nvSpPr>
          <p:cNvPr id="39" name="Shape 37"/>
          <p:cNvSpPr/>
          <p:nvPr/>
        </p:nvSpPr>
        <p:spPr>
          <a:xfrm>
            <a:off x="2148840" y="3634740"/>
            <a:ext cx="201168" cy="320040"/>
          </a:xfrm>
          <a:prstGeom prst="upArrow">
            <a:avLst/>
          </a:prstGeom>
          <a:solidFill>
            <a:srgbClr val="5B6B7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waiting for public datasets, daily operations organically collect the ambiguous edge cases needed to scale training past 100k+ samples.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FA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Improvement, Not a Finish 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1B496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gateway report-phish webhooks (Proofpoint/Defender) to inbound triage; route high-priority alerts straight to SOC ticketing (ServiceNow/Jira).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on schedule: once ~5,000 analyst verdicts accumulate on borderline tickets, run calibration retraining to resolve ECE on real operational edge cases.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continuously: as the ground-truth store passes 100k+ samples, fine-tune RoBERTa on accumulated hard examples rather than the original public corpus.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two-stage routing: LightGBM handles fast first-pass triage; fine-tuned RoBERTa takes over for deep contextual disambiguation on ambiguous BEC pretexts.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394960" cy="384048"/>
          </a:xfrm>
          <a:prstGeom prst="roundRect">
            <a:avLst>
              <a:gd name="adj" fmla="val 50000"/>
            </a:avLst>
          </a:prstGeom>
          <a:solidFill>
            <a:srgbClr val="EF476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4173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ROBERTA IS THE EVENTUAL CHAMPION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965960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125M parameters were data-starved at just 15,483 training emails — the ceiling was sample volume, not architecture.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features plateau once explicit structural signals (URLs, headers, attachments) are exhausted; transformer attention keeps improving with more context.</a:t>
            </a:r>
            <a:endParaRPr lang="en-US" sz="11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D7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closed-loop feedback store is built to deliver exactly the volume of real, conversational BEC edge cases RoBERTa needs to overtake LightGBM.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064240" cy="0"/>
          </a:xfrm>
          <a:prstGeom prst="line">
            <a:avLst/>
          </a:prstGeom>
          <a:noFill/>
          <a:ln w="12700">
            <a:solidFill>
              <a:srgbClr val="2C41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98.01%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46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Recall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97.62%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4846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0.9845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120640" y="4846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40664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 ms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4846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4343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98.8%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692640" y="4846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Email Triage turns SOC noise into signal — precision automation where it's safe, human judgment where it matters.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EMAIL TRIAGE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2026-09-13T17:12:45Z</dcterms:created>
  <dcterms:modified xsi:type="dcterms:W3CDTF">2026-09-13T17:12:45Z</dcterms:modified>
</cp:coreProperties>
</file>