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  <p:sldId id="271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0321C34-C5D8-5044-B468-5E31895DD509}" v="2" dt="2026-07-27T17:29:45.7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39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rshan  Atkari" userId="2b458988-9345-4deb-b3a8-cdc740ec1910" providerId="ADAL" clId="{5E9CD141-0228-5361-8690-4E24EE793645}"/>
    <pc:docChg chg="undo custSel delSld modSld">
      <pc:chgData name="Darshan  Atkari" userId="2b458988-9345-4deb-b3a8-cdc740ec1910" providerId="ADAL" clId="{5E9CD141-0228-5361-8690-4E24EE793645}" dt="2026-07-27T17:38:23.437" v="425" actId="20577"/>
      <pc:docMkLst>
        <pc:docMk/>
      </pc:docMkLst>
      <pc:sldChg chg="modSp mod">
        <pc:chgData name="Darshan  Atkari" userId="2b458988-9345-4deb-b3a8-cdc740ec1910" providerId="ADAL" clId="{5E9CD141-0228-5361-8690-4E24EE793645}" dt="2026-07-27T17:26:24.031" v="4" actId="1076"/>
        <pc:sldMkLst>
          <pc:docMk/>
          <pc:sldMk cId="0" sldId="265"/>
        </pc:sldMkLst>
        <pc:spChg chg="mod">
          <ac:chgData name="Darshan  Atkari" userId="2b458988-9345-4deb-b3a8-cdc740ec1910" providerId="ADAL" clId="{5E9CD141-0228-5361-8690-4E24EE793645}" dt="2026-07-27T17:26:16.419" v="2" actId="1076"/>
          <ac:spMkLst>
            <pc:docMk/>
            <pc:sldMk cId="0" sldId="265"/>
            <ac:spMk id="14" creationId="{00000000-0000-0000-0000-000000000000}"/>
          </ac:spMkLst>
        </pc:spChg>
        <pc:spChg chg="mod">
          <ac:chgData name="Darshan  Atkari" userId="2b458988-9345-4deb-b3a8-cdc740ec1910" providerId="ADAL" clId="{5E9CD141-0228-5361-8690-4E24EE793645}" dt="2026-07-27T17:26:06.104" v="1" actId="1076"/>
          <ac:spMkLst>
            <pc:docMk/>
            <pc:sldMk cId="0" sldId="265"/>
            <ac:spMk id="15" creationId="{00000000-0000-0000-0000-000000000000}"/>
          </ac:spMkLst>
        </pc:spChg>
        <pc:spChg chg="mod">
          <ac:chgData name="Darshan  Atkari" userId="2b458988-9345-4deb-b3a8-cdc740ec1910" providerId="ADAL" clId="{5E9CD141-0228-5361-8690-4E24EE793645}" dt="2026-07-27T17:26:24.031" v="4" actId="1076"/>
          <ac:spMkLst>
            <pc:docMk/>
            <pc:sldMk cId="0" sldId="265"/>
            <ac:spMk id="16" creationId="{00000000-0000-0000-0000-000000000000}"/>
          </ac:spMkLst>
        </pc:spChg>
      </pc:sldChg>
      <pc:sldChg chg="modSp mod">
        <pc:chgData name="Darshan  Atkari" userId="2b458988-9345-4deb-b3a8-cdc740ec1910" providerId="ADAL" clId="{5E9CD141-0228-5361-8690-4E24EE793645}" dt="2026-07-27T17:29:50.118" v="71" actId="20577"/>
        <pc:sldMkLst>
          <pc:docMk/>
          <pc:sldMk cId="0" sldId="266"/>
        </pc:sldMkLst>
        <pc:spChg chg="mod">
          <ac:chgData name="Darshan  Atkari" userId="2b458988-9345-4deb-b3a8-cdc740ec1910" providerId="ADAL" clId="{5E9CD141-0228-5361-8690-4E24EE793645}" dt="2026-07-27T17:29:39.853" v="62" actId="20577"/>
          <ac:spMkLst>
            <pc:docMk/>
            <pc:sldMk cId="0" sldId="266"/>
            <ac:spMk id="16" creationId="{00000000-0000-0000-0000-000000000000}"/>
          </ac:spMkLst>
        </pc:spChg>
        <pc:spChg chg="mod">
          <ac:chgData name="Darshan  Atkari" userId="2b458988-9345-4deb-b3a8-cdc740ec1910" providerId="ADAL" clId="{5E9CD141-0228-5361-8690-4E24EE793645}" dt="2026-07-27T17:29:00.243" v="5" actId="207"/>
          <ac:spMkLst>
            <pc:docMk/>
            <pc:sldMk cId="0" sldId="266"/>
            <ac:spMk id="21" creationId="{00000000-0000-0000-0000-000000000000}"/>
          </ac:spMkLst>
        </pc:spChg>
        <pc:spChg chg="mod">
          <ac:chgData name="Darshan  Atkari" userId="2b458988-9345-4deb-b3a8-cdc740ec1910" providerId="ADAL" clId="{5E9CD141-0228-5361-8690-4E24EE793645}" dt="2026-07-27T17:29:50.118" v="71" actId="20577"/>
          <ac:spMkLst>
            <pc:docMk/>
            <pc:sldMk cId="0" sldId="266"/>
            <ac:spMk id="22" creationId="{00000000-0000-0000-0000-000000000000}"/>
          </ac:spMkLst>
        </pc:spChg>
      </pc:sldChg>
      <pc:sldChg chg="del">
        <pc:chgData name="Darshan  Atkari" userId="2b458988-9345-4deb-b3a8-cdc740ec1910" providerId="ADAL" clId="{5E9CD141-0228-5361-8690-4E24EE793645}" dt="2026-07-27T17:30:07.071" v="72" actId="2696"/>
        <pc:sldMkLst>
          <pc:docMk/>
          <pc:sldMk cId="0" sldId="267"/>
        </pc:sldMkLst>
      </pc:sldChg>
      <pc:sldChg chg="modSp mod">
        <pc:chgData name="Darshan  Atkari" userId="2b458988-9345-4deb-b3a8-cdc740ec1910" providerId="ADAL" clId="{5E9CD141-0228-5361-8690-4E24EE793645}" dt="2026-07-27T17:30:31.493" v="77" actId="1076"/>
        <pc:sldMkLst>
          <pc:docMk/>
          <pc:sldMk cId="0" sldId="268"/>
        </pc:sldMkLst>
        <pc:spChg chg="mod">
          <ac:chgData name="Darshan  Atkari" userId="2b458988-9345-4deb-b3a8-cdc740ec1910" providerId="ADAL" clId="{5E9CD141-0228-5361-8690-4E24EE793645}" dt="2026-07-27T17:30:26.555" v="76" actId="20577"/>
          <ac:spMkLst>
            <pc:docMk/>
            <pc:sldMk cId="0" sldId="268"/>
            <ac:spMk id="4" creationId="{00000000-0000-0000-0000-000000000000}"/>
          </ac:spMkLst>
        </pc:spChg>
        <pc:spChg chg="mod">
          <ac:chgData name="Darshan  Atkari" userId="2b458988-9345-4deb-b3a8-cdc740ec1910" providerId="ADAL" clId="{5E9CD141-0228-5361-8690-4E24EE793645}" dt="2026-07-27T17:30:31.493" v="77" actId="1076"/>
          <ac:spMkLst>
            <pc:docMk/>
            <pc:sldMk cId="0" sldId="268"/>
            <ac:spMk id="9" creationId="{00000000-0000-0000-0000-000000000000}"/>
          </ac:spMkLst>
        </pc:spChg>
      </pc:sldChg>
      <pc:sldChg chg="modSp mod">
        <pc:chgData name="Darshan  Atkari" userId="2b458988-9345-4deb-b3a8-cdc740ec1910" providerId="ADAL" clId="{5E9CD141-0228-5361-8690-4E24EE793645}" dt="2026-07-27T17:35:32.393" v="279" actId="20577"/>
        <pc:sldMkLst>
          <pc:docMk/>
          <pc:sldMk cId="0" sldId="270"/>
        </pc:sldMkLst>
        <pc:spChg chg="mod">
          <ac:chgData name="Darshan  Atkari" userId="2b458988-9345-4deb-b3a8-cdc740ec1910" providerId="ADAL" clId="{5E9CD141-0228-5361-8690-4E24EE793645}" dt="2026-07-27T17:35:32.393" v="279" actId="20577"/>
          <ac:spMkLst>
            <pc:docMk/>
            <pc:sldMk cId="0" sldId="270"/>
            <ac:spMk id="16" creationId="{00000000-0000-0000-0000-000000000000}"/>
          </ac:spMkLst>
        </pc:spChg>
        <pc:spChg chg="mod">
          <ac:chgData name="Darshan  Atkari" userId="2b458988-9345-4deb-b3a8-cdc740ec1910" providerId="ADAL" clId="{5E9CD141-0228-5361-8690-4E24EE793645}" dt="2026-07-27T17:34:31.939" v="190" actId="20577"/>
          <ac:spMkLst>
            <pc:docMk/>
            <pc:sldMk cId="0" sldId="270"/>
            <ac:spMk id="17" creationId="{00000000-0000-0000-0000-000000000000}"/>
          </ac:spMkLst>
        </pc:spChg>
        <pc:spChg chg="mod">
          <ac:chgData name="Darshan  Atkari" userId="2b458988-9345-4deb-b3a8-cdc740ec1910" providerId="ADAL" clId="{5E9CD141-0228-5361-8690-4E24EE793645}" dt="2026-07-27T17:35:14.792" v="256" actId="20577"/>
          <ac:spMkLst>
            <pc:docMk/>
            <pc:sldMk cId="0" sldId="270"/>
            <ac:spMk id="20" creationId="{00000000-0000-0000-0000-000000000000}"/>
          </ac:spMkLst>
        </pc:spChg>
      </pc:sldChg>
      <pc:sldChg chg="modSp mod">
        <pc:chgData name="Darshan  Atkari" userId="2b458988-9345-4deb-b3a8-cdc740ec1910" providerId="ADAL" clId="{5E9CD141-0228-5361-8690-4E24EE793645}" dt="2026-07-27T17:38:23.437" v="425" actId="20577"/>
        <pc:sldMkLst>
          <pc:docMk/>
          <pc:sldMk cId="0" sldId="271"/>
        </pc:sldMkLst>
        <pc:spChg chg="mod">
          <ac:chgData name="Darshan  Atkari" userId="2b458988-9345-4deb-b3a8-cdc740ec1910" providerId="ADAL" clId="{5E9CD141-0228-5361-8690-4E24EE793645}" dt="2026-07-27T17:38:03.312" v="417" actId="5793"/>
          <ac:spMkLst>
            <pc:docMk/>
            <pc:sldMk cId="0" sldId="271"/>
            <ac:spMk id="5" creationId="{00000000-0000-0000-0000-000000000000}"/>
          </ac:spMkLst>
        </pc:spChg>
        <pc:spChg chg="mod">
          <ac:chgData name="Darshan  Atkari" userId="2b458988-9345-4deb-b3a8-cdc740ec1910" providerId="ADAL" clId="{5E9CD141-0228-5361-8690-4E24EE793645}" dt="2026-07-27T17:38:23.437" v="425" actId="20577"/>
          <ac:spMkLst>
            <pc:docMk/>
            <pc:sldMk cId="0" sldId="271"/>
            <ac:spMk id="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81110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47208" y="1051560"/>
            <a:ext cx="1097280" cy="10972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icons/envelo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555" y="1314907"/>
            <a:ext cx="570586" cy="5705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251460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EMAIL TRIAGE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914400" y="333756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SOC Triage for User-Reported Suspicious Emails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5090008" y="4160520"/>
            <a:ext cx="2011680" cy="0"/>
          </a:xfrm>
          <a:prstGeom prst="line">
            <a:avLst/>
          </a:prstGeom>
          <a:noFill/>
          <a:ln w="9525">
            <a:solidFill>
              <a:srgbClr val="8FA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0" y="434340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Status Update — July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E0526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icons/probl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259" y="61081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548640" y="1417320"/>
            <a:ext cx="11094415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600"/>
              </a:spcAft>
              <a:buSzPct val="100000"/>
              <a:buChar char="●"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analysts receive high volumes of user-reported suspicious emails daily</a:t>
            </a:r>
            <a:endParaRPr lang="en-US" sz="1700" dirty="0"/>
          </a:p>
          <a:p>
            <a:pPr marL="228600" indent="-228600">
              <a:spcAft>
                <a:spcPts val="1600"/>
              </a:spcAft>
              <a:buSzPct val="100000"/>
              <a:buChar char="●"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cannot distinguish spam from phishing — everything lands in the analyst queue</a:t>
            </a:r>
            <a:endParaRPr lang="en-US" sz="1700" dirty="0"/>
          </a:p>
          <a:p>
            <a:pPr marL="228600" indent="-228600">
              <a:spcAft>
                <a:spcPts val="1600"/>
              </a:spcAft>
              <a:buSzPct val="100000"/>
              <a:buChar char="●"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 manually triage every reported email, causing fatigue and delayed threat response</a:t>
            </a:r>
            <a:endParaRPr lang="en-US" sz="1700" dirty="0"/>
          </a:p>
          <a:p>
            <a:pPr marL="228600" indent="-228600">
              <a:spcAft>
                <a:spcPts val="1600"/>
              </a:spcAft>
              <a:buSzPct val="100000"/>
              <a:buChar char="●"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Low-risk nuisance emails dilute attention from real phishing attacks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548640" y="4297680"/>
            <a:ext cx="11094415" cy="1417320"/>
          </a:xfrm>
          <a:prstGeom prst="roundRect">
            <a:avLst>
              <a:gd name="adj" fmla="val 5161"/>
            </a:avLst>
          </a:prstGeom>
          <a:solidFill>
            <a:srgbClr val="1623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68680" y="4434840"/>
            <a:ext cx="104543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question: </a:t>
            </a:r>
            <a:r>
              <a:rPr lang="en-US" sz="18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“Among emails users reported as suspicious, which are nuisance spam and which are genuine phishing threats?”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Email Triage — Status Update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icons/sol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259" y="61081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Overview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548640" y="1371600"/>
            <a:ext cx="110944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classifier: Spam vs Phishing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Confidence-based routing adds a third operational outcome: Analyst Review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learns 2 classes — runtime outputs 3 outcomes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548640" y="3246120"/>
            <a:ext cx="1554480" cy="822960"/>
          </a:xfrm>
          <a:prstGeom prst="roundRect">
            <a:avLst>
              <a:gd name="adj" fmla="val 8889"/>
            </a:avLst>
          </a:prstGeom>
          <a:solidFill>
            <a:srgbClr val="1623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48640" y="3246120"/>
            <a:ext cx="155448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5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user-reported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2103120" y="3520440"/>
            <a:ext cx="502920" cy="274320"/>
          </a:xfrm>
          <a:prstGeom prst="rightArrow">
            <a:avLst/>
          </a:prstGeom>
          <a:solidFill>
            <a:srgbClr val="8FA3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2606040" y="3246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2606040" y="3246120"/>
            <a:ext cx="173736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5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classifier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343400" y="3520440"/>
            <a:ext cx="502920" cy="274320"/>
          </a:xfrm>
          <a:prstGeom prst="rightArrow">
            <a:avLst/>
          </a:prstGeom>
          <a:solidFill>
            <a:srgbClr val="8FA3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846320" y="2679192"/>
            <a:ext cx="2148840" cy="685800"/>
          </a:xfrm>
          <a:prstGeom prst="roundRect">
            <a:avLst>
              <a:gd name="adj" fmla="val 10667"/>
            </a:avLst>
          </a:prstGeom>
          <a:solidFill>
            <a:srgbClr val="1623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846320" y="2679192"/>
            <a:ext cx="214884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</a:t>
            </a:r>
            <a:endParaRPr lang="en-US" sz="15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auto-suppress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4846320" y="3392424"/>
            <a:ext cx="2148840" cy="685800"/>
          </a:xfrm>
          <a:prstGeom prst="roundRect">
            <a:avLst>
              <a:gd name="adj" fmla="val 10667"/>
            </a:avLst>
          </a:prstGeom>
          <a:solidFill>
            <a:srgbClr val="E052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846320" y="3392424"/>
            <a:ext cx="214884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</a:t>
            </a:r>
            <a:endParaRPr lang="en-US" sz="15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4846320" y="4105656"/>
            <a:ext cx="2148840" cy="685800"/>
          </a:xfrm>
          <a:prstGeom prst="roundRect">
            <a:avLst>
              <a:gd name="adj" fmla="val 10667"/>
            </a:avLst>
          </a:prstGeom>
          <a:solidFill>
            <a:srgbClr val="4FD1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846320" y="4105656"/>
            <a:ext cx="214884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Review</a:t>
            </a:r>
            <a:endParaRPr lang="en-US" sz="15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548640" y="5532120"/>
            <a:ext cx="11094415" cy="868680"/>
          </a:xfrm>
          <a:prstGeom prst="roundRect">
            <a:avLst>
              <a:gd name="adj" fmla="val 8421"/>
            </a:avLst>
          </a:prstGeom>
          <a:solidFill>
            <a:srgbClr val="1623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822960" y="55321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Targets: </a:t>
            </a:r>
            <a:r>
              <a:rPr lang="en-US" sz="15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&gt;98% phishing recall</a:t>
            </a: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 </a:t>
            </a:r>
            <a:r>
              <a:rPr lang="en-US" sz="15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&gt;50% analyst workload reduction</a:t>
            </a: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 calibrated confidence + explainability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Email Triage — Status Update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icons/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259" y="61081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Sources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5364328" cy="1417320"/>
          </a:xfrm>
          <a:prstGeom prst="roundRect">
            <a:avLst>
              <a:gd name="adj" fmla="val 5161"/>
            </a:avLst>
          </a:prstGeom>
          <a:solidFill>
            <a:srgbClr val="1623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22960" y="1554480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Sources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22960" y="2011680"/>
            <a:ext cx="481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TREC 2007  ·  SpamAssassin  ·  CEAS 2008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278728" y="1417320"/>
            <a:ext cx="5364328" cy="1417320"/>
          </a:xfrm>
          <a:prstGeom prst="roundRect">
            <a:avLst>
              <a:gd name="adj" fmla="val 5161"/>
            </a:avLst>
          </a:prstGeom>
          <a:solidFill>
            <a:srgbClr val="1623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553048" y="1554480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Sources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553048" y="2011680"/>
            <a:ext cx="481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Nazario  ·  IWSPA-AP  ·  Kaggle Phishing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48640" y="30632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Augmentation: </a:t>
            </a: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Template-based phishing generation (brand variation, sender mutation, synonym substitution)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31520" y="36576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~22,000</a:t>
            </a:r>
            <a:endParaRPr lang="en-US" sz="3400" dirty="0"/>
          </a:p>
        </p:txBody>
      </p:sp>
      <p:sp>
        <p:nvSpPr>
          <p:cNvPr id="13" name="Text 10"/>
          <p:cNvSpPr/>
          <p:nvPr/>
        </p:nvSpPr>
        <p:spPr>
          <a:xfrm>
            <a:off x="731520" y="431596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samples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337560" y="36576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15.5k</a:t>
            </a:r>
            <a:endParaRPr lang="en-US" sz="3400" dirty="0"/>
          </a:p>
        </p:txBody>
      </p:sp>
      <p:sp>
        <p:nvSpPr>
          <p:cNvPr id="15" name="Text 12"/>
          <p:cNvSpPr/>
          <p:nvPr/>
        </p:nvSpPr>
        <p:spPr>
          <a:xfrm>
            <a:off x="3337560" y="431596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943600" y="36576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3.2k / 3.2k</a:t>
            </a:r>
            <a:endParaRPr lang="en-US" sz="3400" dirty="0"/>
          </a:p>
        </p:txBody>
      </p:sp>
      <p:sp>
        <p:nvSpPr>
          <p:cNvPr id="17" name="Text 14"/>
          <p:cNvSpPr/>
          <p:nvPr/>
        </p:nvSpPr>
        <p:spPr>
          <a:xfrm>
            <a:off x="5943600" y="431596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/ test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48640" y="470916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subtypes covered: </a:t>
            </a: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harvesting, BEC/executive impersonation, malware delivery, invoice fraud, redirect phishing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Email Triage — Status Update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icons/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259" y="61081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Integrity Pipeline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444752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48640" y="1444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115568" y="1362456"/>
            <a:ext cx="1052748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Deduplicated across splits using normalized text hashing — prevents cross-split leakage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548640" y="2157984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48640" y="2157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115568" y="2075688"/>
            <a:ext cx="1052748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 synthetic/augmented samples to training only — clean evaluation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548640" y="2871216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48640" y="2871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115568" y="2788920"/>
            <a:ext cx="1052748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provenance-correlated fields — model learns phishing signals, not dataset origin</a:t>
            </a:r>
            <a:endParaRPr lang="en-US" sz="1550" dirty="0"/>
          </a:p>
        </p:txBody>
      </p:sp>
      <p:sp>
        <p:nvSpPr>
          <p:cNvPr id="14" name="Shape 11"/>
          <p:cNvSpPr/>
          <p:nvPr/>
        </p:nvSpPr>
        <p:spPr>
          <a:xfrm>
            <a:off x="548640" y="3584448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48640" y="3584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115568" y="3502152"/>
            <a:ext cx="1052748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Rebuilt splits via stratified random sampling — consistent distributions</a:t>
            </a:r>
            <a:endParaRPr lang="en-US" sz="1550" dirty="0"/>
          </a:p>
        </p:txBody>
      </p:sp>
      <p:sp>
        <p:nvSpPr>
          <p:cNvPr id="17" name="Shape 14"/>
          <p:cNvSpPr/>
          <p:nvPr/>
        </p:nvSpPr>
        <p:spPr>
          <a:xfrm>
            <a:off x="548640" y="429768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48640" y="4297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115568" y="4215384"/>
            <a:ext cx="1052748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engineered feature correctness post-split</a:t>
            </a:r>
            <a:endParaRPr lang="en-US" sz="1550" dirty="0"/>
          </a:p>
        </p:txBody>
      </p:sp>
      <p:sp>
        <p:nvSpPr>
          <p:cNvPr id="20" name="Shape 17"/>
          <p:cNvSpPr/>
          <p:nvPr/>
        </p:nvSpPr>
        <p:spPr>
          <a:xfrm>
            <a:off x="548640" y="5010912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548640" y="5010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115568" y="4928616"/>
            <a:ext cx="1052748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schema consistency and label encoding</a:t>
            </a:r>
            <a:endParaRPr lang="en-US" sz="1550" dirty="0"/>
          </a:p>
        </p:txBody>
      </p:sp>
      <p:sp>
        <p:nvSpPr>
          <p:cNvPr id="23" name="Text 20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Email Triage — Status Update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icons/co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286" y="554126"/>
            <a:ext cx="309067" cy="30906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1148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— Multimodal Signals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94415" cy="3419856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512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 Group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623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Sender Signals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623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Display-from mismatch, reply-to mismatch, free-email sender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623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URL Signals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623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URL count, domain count, shortened URLs, suspicious TLDs, IP literal URLs, URL entropy, typosquatting detection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623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Attachment Signals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623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 attachment, executable detected, macro-enabled document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623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Statistics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623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Subject length, body length, uppercase ratio, digit ratio, punctuation density, link density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623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 Signals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623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Known brand mention, sender-brand mismatch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548640" y="5532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Plus: </a:t>
            </a:r>
            <a:r>
              <a:rPr lang="en-US" sz="1500" dirty="0">
                <a:solidFill>
                  <a:srgbClr val="162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text vectorization (30k vocabulary from subject + body)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589788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</a:t>
            </a: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structured features</a:t>
            </a:r>
            <a:r>
              <a:rPr lang="en-US" sz="16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 </a:t>
            </a: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30k text features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Email Triage — Status Update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icons/bal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259" y="61081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Design Philosophy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48640" y="12801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input mirrors how a real SOC analyst evaluates an email: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icons/usersecr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590" y="1884030"/>
            <a:ext cx="218724" cy="21872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15568" y="1783080"/>
            <a:ext cx="1052748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 mismatch  →  </a:t>
            </a:r>
            <a:r>
              <a:rPr lang="en-US" sz="15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person who they claim to be?</a:t>
            </a:r>
            <a:endParaRPr lang="en-US" sz="1550" dirty="0"/>
          </a:p>
        </p:txBody>
      </p:sp>
      <p:sp>
        <p:nvSpPr>
          <p:cNvPr id="9" name="Shape 5"/>
          <p:cNvSpPr/>
          <p:nvPr/>
        </p:nvSpPr>
        <p:spPr>
          <a:xfrm>
            <a:off x="548640" y="2350008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2" descr="icons/lin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590" y="2450958"/>
            <a:ext cx="218724" cy="21872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15568" y="2350008"/>
            <a:ext cx="1052748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analysis  →  </a:t>
            </a:r>
            <a:r>
              <a:rPr lang="en-US" sz="15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this link actually go?</a:t>
            </a:r>
            <a:endParaRPr lang="en-US" sz="1550" dirty="0"/>
          </a:p>
        </p:txBody>
      </p:sp>
      <p:sp>
        <p:nvSpPr>
          <p:cNvPr id="12" name="Shape 7"/>
          <p:cNvSpPr/>
          <p:nvPr/>
        </p:nvSpPr>
        <p:spPr>
          <a:xfrm>
            <a:off x="548640" y="2916936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3" descr="icons/papercli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590" y="3017886"/>
            <a:ext cx="218724" cy="21872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15568" y="2916936"/>
            <a:ext cx="1052748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Attachment flags  →  </a:t>
            </a:r>
            <a:r>
              <a:rPr lang="en-US" sz="15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payload dangerous?</a:t>
            </a:r>
            <a:endParaRPr lang="en-US" sz="1550" dirty="0"/>
          </a:p>
        </p:txBody>
      </p:sp>
      <p:sp>
        <p:nvSpPr>
          <p:cNvPr id="15" name="Shape 9"/>
          <p:cNvSpPr/>
          <p:nvPr/>
        </p:nvSpPr>
        <p:spPr>
          <a:xfrm>
            <a:off x="548640" y="3483864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4" descr="icons/fon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590" y="3584814"/>
            <a:ext cx="218724" cy="218724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115568" y="3483864"/>
            <a:ext cx="1052748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statistics  →  </a:t>
            </a:r>
            <a:r>
              <a:rPr lang="en-US" sz="15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spam or targeted attack?</a:t>
            </a:r>
            <a:endParaRPr lang="en-US" sz="1550" dirty="0"/>
          </a:p>
        </p:txBody>
      </p:sp>
      <p:sp>
        <p:nvSpPr>
          <p:cNvPr id="18" name="Shape 11"/>
          <p:cNvSpPr/>
          <p:nvPr/>
        </p:nvSpPr>
        <p:spPr>
          <a:xfrm>
            <a:off x="548640" y="4050792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5" descr="icons/ta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590" y="4151742"/>
            <a:ext cx="218724" cy="218724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115568" y="4050792"/>
            <a:ext cx="1052748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signals  →  </a:t>
            </a:r>
            <a:r>
              <a:rPr lang="en-US" sz="15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someone impersonating a trusted brand?</a:t>
            </a:r>
            <a:endParaRPr lang="en-US" sz="1550" dirty="0"/>
          </a:p>
        </p:txBody>
      </p:sp>
      <p:sp>
        <p:nvSpPr>
          <p:cNvPr id="21" name="Shape 13"/>
          <p:cNvSpPr/>
          <p:nvPr/>
        </p:nvSpPr>
        <p:spPr>
          <a:xfrm>
            <a:off x="548640" y="4754880"/>
            <a:ext cx="11094415" cy="1371600"/>
          </a:xfrm>
          <a:prstGeom prst="roundRect">
            <a:avLst>
              <a:gd name="adj" fmla="val 5333"/>
            </a:avLst>
          </a:prstGeom>
          <a:solidFill>
            <a:srgbClr val="1623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4"/>
          <p:cNvSpPr/>
          <p:nvPr/>
        </p:nvSpPr>
        <p:spPr>
          <a:xfrm>
            <a:off x="822960" y="4754880"/>
            <a:ext cx="1054577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inputs limited to signals genuinely present in an email — no metadata shortcuts.</a:t>
            </a:r>
            <a:endParaRPr lang="en-US" sz="14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5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(production): </a:t>
            </a: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SPF/DKIM/DMARC, IP reputation, sender history — additive once enterprise telemetry available.</a:t>
            </a:r>
            <a:endParaRPr lang="en-US" sz="1450" dirty="0"/>
          </a:p>
        </p:txBody>
      </p:sp>
      <p:sp>
        <p:nvSpPr>
          <p:cNvPr id="23" name="Text 15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Email Triage — Status Update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icons/br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259" y="61081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Development — 3-Phase Approach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508760"/>
            <a:ext cx="3484778" cy="3566160"/>
          </a:xfrm>
          <a:prstGeom prst="roundRect">
            <a:avLst>
              <a:gd name="adj" fmla="val 2624"/>
            </a:avLst>
          </a:prstGeom>
          <a:solidFill>
            <a:srgbClr val="1623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77240" y="1737360"/>
            <a:ext cx="30275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7240" y="2103120"/>
            <a:ext cx="30275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77240" y="3246120"/>
            <a:ext cx="302757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interpretable baseline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77240" y="4480560"/>
            <a:ext cx="3027578" cy="365760"/>
          </a:xfrm>
          <a:prstGeom prst="roundRect">
            <a:avLst>
              <a:gd name="adj" fmla="val 15000"/>
            </a:avLst>
          </a:prstGeom>
          <a:solidFill>
            <a:srgbClr val="0F1B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77240" y="4480560"/>
            <a:ext cx="30275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floor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353458" y="1508760"/>
            <a:ext cx="3484778" cy="3566160"/>
          </a:xfrm>
          <a:prstGeom prst="roundRect">
            <a:avLst>
              <a:gd name="adj" fmla="val 2624"/>
            </a:avLst>
          </a:prstGeom>
          <a:solidFill>
            <a:srgbClr val="1C7293"/>
          </a:solidFill>
          <a:ln w="19050">
            <a:solidFill>
              <a:srgbClr val="4FD1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582058" y="1737360"/>
            <a:ext cx="30275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582058" y="2103120"/>
            <a:ext cx="30275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4582058" y="3246120"/>
            <a:ext cx="302757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candidate — handles sparse features natively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582058" y="4480560"/>
            <a:ext cx="3027578" cy="365760"/>
          </a:xfrm>
          <a:prstGeom prst="roundRect">
            <a:avLst>
              <a:gd name="adj" fmla="val 15000"/>
            </a:avLst>
          </a:prstGeom>
          <a:solidFill>
            <a:srgbClr val="4FD1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582058" y="4480560"/>
            <a:ext cx="30275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pick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8158277" y="1508760"/>
            <a:ext cx="3484778" cy="3566160"/>
          </a:xfrm>
          <a:prstGeom prst="roundRect">
            <a:avLst>
              <a:gd name="adj" fmla="val 2624"/>
            </a:avLst>
          </a:prstGeom>
          <a:solidFill>
            <a:srgbClr val="1623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8386877" y="1737360"/>
            <a:ext cx="30275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386877" y="2103120"/>
            <a:ext cx="30275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RoBERTa + MLP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Transformer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8386877" y="3246120"/>
            <a:ext cx="302757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semantic understanding, 125M params, 3 full runs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8386877" y="4480560"/>
            <a:ext cx="3027578" cy="365760"/>
          </a:xfrm>
          <a:prstGeom prst="roundRect">
            <a:avLst>
              <a:gd name="adj" fmla="val 15000"/>
            </a:avLst>
          </a:prstGeom>
          <a:solidFill>
            <a:srgbClr val="0F1B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8386877" y="4480560"/>
            <a:ext cx="30275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ceiling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548640" y="53035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methodology: </a:t>
            </a: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train set, tune on validation, report on held-out test only.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Email Triage — Status Update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icons/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286" y="508406"/>
            <a:ext cx="309067" cy="30906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3657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Phase Comparison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94414" cy="333756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37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837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837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1 (LR)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2 (LightGBM)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3 (RoBERTa+MLP)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623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623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93.51%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B7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97.62%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7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623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94.86%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623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Phishing Recall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623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94.38%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B7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98.01%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7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623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97.01%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623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Phishing Precision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623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93.56%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B7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97.55%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7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623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93.62%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623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623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0.9720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B7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0.9959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7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623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0.9682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623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Auto-classify Rate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623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82.8%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B7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98.8%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7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623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94.4%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48640" y="5074920"/>
            <a:ext cx="11094415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822960" y="5074920"/>
            <a:ext cx="105457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(LightGBM) selected as production model — </a:t>
            </a:r>
            <a:r>
              <a:rPr lang="en-US" sz="16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model exceeding 98% phishing recall target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Email Triage — Status Update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259" y="61081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LightGBM Is the Right Choice Today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3291840" cy="1234440"/>
          </a:xfrm>
          <a:prstGeom prst="roundRect">
            <a:avLst>
              <a:gd name="adj" fmla="val 5926"/>
            </a:avLst>
          </a:prstGeom>
          <a:solidFill>
            <a:srgbClr val="1623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48640" y="1527048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98.01%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548640" y="22402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recall — only model to exceed the 98% target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160520" y="1417320"/>
            <a:ext cx="3291840" cy="1234440"/>
          </a:xfrm>
          <a:prstGeom prst="roundRect">
            <a:avLst>
              <a:gd name="adj" fmla="val 5926"/>
            </a:avLst>
          </a:prstGeom>
          <a:solidFill>
            <a:srgbClr val="1623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160520" y="1527048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98.8%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4160520" y="22402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auto-classify rate — only 1.2% of emails need manual review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772400" y="1417320"/>
            <a:ext cx="3291840" cy="1234440"/>
          </a:xfrm>
          <a:prstGeom prst="roundRect">
            <a:avLst>
              <a:gd name="adj" fmla="val 5926"/>
            </a:avLst>
          </a:prstGeom>
          <a:solidFill>
            <a:srgbClr val="1623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7772400" y="1527048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ECE 0.44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7772400" y="22402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— a dataset-level property shared across all 3 models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48639" y="3104388"/>
            <a:ext cx="110944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6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inference, simple deployment — single .txt model file</a:t>
            </a:r>
            <a:endParaRPr lang="en-US" sz="165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65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</a:t>
            </a:r>
            <a:r>
              <a:rPr lang="en-US" sz="16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is fixable with more ambiguous training examples; routing already works correctly</a:t>
            </a:r>
            <a:endParaRPr lang="en-US" sz="1650" dirty="0"/>
          </a:p>
        </p:txBody>
      </p:sp>
      <p:sp>
        <p:nvSpPr>
          <p:cNvPr id="15" name="Shape 12"/>
          <p:cNvSpPr/>
          <p:nvPr/>
        </p:nvSpPr>
        <p:spPr>
          <a:xfrm>
            <a:off x="548639" y="4411980"/>
            <a:ext cx="11094415" cy="960120"/>
          </a:xfrm>
          <a:prstGeom prst="roundRect">
            <a:avLst>
              <a:gd name="adj" fmla="val 7619"/>
            </a:avLst>
          </a:prstGeom>
          <a:solidFill>
            <a:srgbClr val="1623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762152" y="4411980"/>
            <a:ext cx="105457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“Today” </a:t>
            </a: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this is the right decision now — not forever. The transformer remains the long-term architecture as data scale grows.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Email Triage — Status Update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icons/netwo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259" y="61081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— Long-Term Architecture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2801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ran 3 full experiments: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548640" y="1645920"/>
            <a:ext cx="3515258" cy="914400"/>
          </a:xfrm>
          <a:prstGeom prst="roundRect">
            <a:avLst>
              <a:gd name="adj" fmla="val 8000"/>
            </a:avLst>
          </a:prstGeom>
          <a:solidFill>
            <a:srgbClr val="1623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31520" y="1645920"/>
            <a:ext cx="314949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1 — Baseline</a:t>
            </a:r>
            <a:endParaRPr lang="en-US" sz="13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recall: 97.01%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4338218" y="1645920"/>
            <a:ext cx="3515258" cy="914400"/>
          </a:xfrm>
          <a:prstGeom prst="roundRect">
            <a:avLst>
              <a:gd name="adj" fmla="val 8000"/>
            </a:avLst>
          </a:prstGeom>
          <a:solidFill>
            <a:srgbClr val="1623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521098" y="1645920"/>
            <a:ext cx="314949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2 — Label smoothing + mixup</a:t>
            </a:r>
            <a:endParaRPr lang="en-US" sz="13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ECE: 0.389 — training unstable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8127797" y="1645920"/>
            <a:ext cx="3515258" cy="914400"/>
          </a:xfrm>
          <a:prstGeom prst="roundRect">
            <a:avLst>
              <a:gd name="adj" fmla="val 8000"/>
            </a:avLst>
          </a:prstGeom>
          <a:solidFill>
            <a:srgbClr val="1623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310677" y="1645920"/>
            <a:ext cx="314949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3 — Label smoothing only</a:t>
            </a:r>
            <a:endParaRPr lang="en-US" sz="13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Balanced: 96.19% recall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548640" y="27889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couldn't beat LightGBM: </a:t>
            </a: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15k samples vs 125M parameters (data-starved); TF-IDF already captures vocabulary difference at this scale.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548640" y="34290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transformer IS the right long-term model</a:t>
            </a:r>
            <a:r>
              <a:rPr lang="en-US" sz="15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conditions aren't yet present.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548640" y="39319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documented improvements for next attempt: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548640" y="4343400"/>
            <a:ext cx="3515258" cy="502920"/>
          </a:xfrm>
          <a:prstGeom prst="roundRect">
            <a:avLst>
              <a:gd name="adj" fmla="val 50909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48640" y="4343400"/>
            <a:ext cx="35152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dataset</a:t>
            </a:r>
            <a:endParaRPr lang="en-US" sz="1250"/>
          </a:p>
        </p:txBody>
      </p:sp>
      <p:sp>
        <p:nvSpPr>
          <p:cNvPr id="17" name="Shape 14"/>
          <p:cNvSpPr/>
          <p:nvPr/>
        </p:nvSpPr>
        <p:spPr>
          <a:xfrm>
            <a:off x="4338218" y="4343400"/>
            <a:ext cx="3515258" cy="502920"/>
          </a:xfrm>
          <a:prstGeom prst="roundRect">
            <a:avLst>
              <a:gd name="adj" fmla="val 50909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4338218" y="4343400"/>
            <a:ext cx="35152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Head+tail truncation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8127797" y="4343400"/>
            <a:ext cx="3515258" cy="502920"/>
          </a:xfrm>
          <a:prstGeom prst="roundRect">
            <a:avLst>
              <a:gd name="adj" fmla="val 50909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8127797" y="4343400"/>
            <a:ext cx="35152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Embedding-space mixup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548640" y="5047488"/>
            <a:ext cx="3515258" cy="502920"/>
          </a:xfrm>
          <a:prstGeom prst="roundRect">
            <a:avLst>
              <a:gd name="adj" fmla="val 50909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>
              <a:solidFill>
                <a:schemeClr val="accent4"/>
              </a:solidFill>
            </a:endParaRPr>
          </a:p>
        </p:txBody>
      </p:sp>
      <p:sp>
        <p:nvSpPr>
          <p:cNvPr id="22" name="Text 19"/>
          <p:cNvSpPr/>
          <p:nvPr/>
        </p:nvSpPr>
        <p:spPr>
          <a:xfrm>
            <a:off x="548640" y="5047488"/>
            <a:ext cx="35152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Layer-wise LR decay</a:t>
            </a:r>
            <a:endParaRPr lang="en-US" sz="1250"/>
          </a:p>
        </p:txBody>
      </p:sp>
      <p:sp>
        <p:nvSpPr>
          <p:cNvPr id="23" name="Shape 20"/>
          <p:cNvSpPr/>
          <p:nvPr/>
        </p:nvSpPr>
        <p:spPr>
          <a:xfrm>
            <a:off x="4338218" y="5047488"/>
            <a:ext cx="3515258" cy="502920"/>
          </a:xfrm>
          <a:prstGeom prst="roundRect">
            <a:avLst>
              <a:gd name="adj" fmla="val 50909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4338218" y="5047488"/>
            <a:ext cx="35152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Gradual unfreezing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8127797" y="5047488"/>
            <a:ext cx="3515258" cy="502920"/>
          </a:xfrm>
          <a:prstGeom prst="roundRect">
            <a:avLst>
              <a:gd name="adj" fmla="val 50909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8127797" y="5047488"/>
            <a:ext cx="35152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Subtype-stratified evaluation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Email Triage — Status Update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icons/user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286" y="508406"/>
            <a:ext cx="309067" cy="30906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3657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62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Routing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43000"/>
          <a:ext cx="11094415" cy="246888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052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Trust Score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Routing Action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623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90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623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Auto-classify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623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confidence — automated decision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623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75–90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623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Auto-classify + Monitor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623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Confident but flagged for review sampling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623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55–75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623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Analyst Review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623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Uncertain — manual triage required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623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55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623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 Analyst Review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623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uncertain — top of analyst queue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548640" y="39776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 </a:t>
            </a:r>
            <a:r>
              <a:rPr lang="en-US" sz="14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Score = 0.6 × max_probability + 0.4 × margin_score</a:t>
            </a:r>
            <a:r>
              <a:rPr lang="en-US" sz="14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(normalized 0–100)</a:t>
            </a:r>
            <a:endParaRPr lang="en-US" sz="1450" dirty="0"/>
          </a:p>
        </p:txBody>
      </p:sp>
      <p:sp>
        <p:nvSpPr>
          <p:cNvPr id="7" name="Shape 3"/>
          <p:cNvSpPr/>
          <p:nvPr/>
        </p:nvSpPr>
        <p:spPr>
          <a:xfrm>
            <a:off x="548640" y="4434840"/>
            <a:ext cx="11094415" cy="685800"/>
          </a:xfrm>
          <a:prstGeom prst="roundRect">
            <a:avLst>
              <a:gd name="adj" fmla="val 8000"/>
            </a:avLst>
          </a:prstGeom>
          <a:solidFill>
            <a:srgbClr val="FDED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777240" y="4434840"/>
            <a:ext cx="106372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3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Override: </a:t>
            </a:r>
            <a:r>
              <a:rPr lang="en-US" sz="1400" dirty="0">
                <a:solidFill>
                  <a:srgbClr val="162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probability &gt; 0.70 + high-risk signal → immediate escalation, regardless of trust score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-1069953" y="4594597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Email Triage — Status Update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icons/syn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286" y="554126"/>
            <a:ext cx="309067" cy="30906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1148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 — Continuous Improvement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161288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48640" y="11612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69264" y="1088136"/>
            <a:ext cx="49437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routes uncertain emails → Analyst Review queue</a:t>
            </a:r>
            <a:endParaRPr lang="en-US" sz="1280" dirty="0"/>
          </a:p>
        </p:txBody>
      </p:sp>
      <p:sp>
        <p:nvSpPr>
          <p:cNvPr id="8" name="Shape 5"/>
          <p:cNvSpPr/>
          <p:nvPr/>
        </p:nvSpPr>
        <p:spPr>
          <a:xfrm>
            <a:off x="548640" y="1673352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48640" y="16733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69264" y="1600200"/>
            <a:ext cx="49437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provides verdict (Confirm / Override → Spam / Override → Phishing)</a:t>
            </a:r>
            <a:endParaRPr lang="en-US" sz="1280" dirty="0"/>
          </a:p>
        </p:txBody>
      </p:sp>
      <p:sp>
        <p:nvSpPr>
          <p:cNvPr id="11" name="Shape 8"/>
          <p:cNvSpPr/>
          <p:nvPr/>
        </p:nvSpPr>
        <p:spPr>
          <a:xfrm>
            <a:off x="548640" y="2185416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48640" y="21854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69264" y="2112264"/>
            <a:ext cx="49437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stored with full context (features, probabilities, text)</a:t>
            </a:r>
            <a:endParaRPr lang="en-US" sz="1280" dirty="0"/>
          </a:p>
        </p:txBody>
      </p:sp>
      <p:sp>
        <p:nvSpPr>
          <p:cNvPr id="14" name="Shape 11"/>
          <p:cNvSpPr/>
          <p:nvPr/>
        </p:nvSpPr>
        <p:spPr>
          <a:xfrm>
            <a:off x="548640" y="2697480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48640" y="2697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969264" y="2624328"/>
            <a:ext cx="49437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detector monitors 7-day rolling override rate</a:t>
            </a:r>
            <a:endParaRPr lang="en-US" sz="1280" dirty="0"/>
          </a:p>
        </p:txBody>
      </p:sp>
      <p:sp>
        <p:nvSpPr>
          <p:cNvPr id="17" name="Shape 14"/>
          <p:cNvSpPr/>
          <p:nvPr/>
        </p:nvSpPr>
        <p:spPr>
          <a:xfrm>
            <a:off x="6278728" y="1161288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278728" y="11612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699352" y="1088136"/>
            <a:ext cx="49437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&gt;20% override rate → signals retraining needed</a:t>
            </a:r>
            <a:endParaRPr lang="en-US" sz="1280" dirty="0"/>
          </a:p>
        </p:txBody>
      </p:sp>
      <p:sp>
        <p:nvSpPr>
          <p:cNvPr id="20" name="Shape 17"/>
          <p:cNvSpPr/>
          <p:nvPr/>
        </p:nvSpPr>
        <p:spPr>
          <a:xfrm>
            <a:off x="6278728" y="1673352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278728" y="16733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699352" y="1600200"/>
            <a:ext cx="49437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Retrain: merge feedback labels → train → evaluate → gate</a:t>
            </a:r>
            <a:endParaRPr lang="en-US" sz="1280" dirty="0"/>
          </a:p>
        </p:txBody>
      </p:sp>
      <p:sp>
        <p:nvSpPr>
          <p:cNvPr id="23" name="Shape 20"/>
          <p:cNvSpPr/>
          <p:nvPr/>
        </p:nvSpPr>
        <p:spPr>
          <a:xfrm>
            <a:off x="6278728" y="2185416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278728" y="21854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699352" y="2112264"/>
            <a:ext cx="49437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approves promotion → new model goes live</a:t>
            </a:r>
            <a:endParaRPr lang="en-US" sz="1280" dirty="0"/>
          </a:p>
        </p:txBody>
      </p:sp>
      <p:sp>
        <p:nvSpPr>
          <p:cNvPr id="26" name="Shape 23"/>
          <p:cNvSpPr/>
          <p:nvPr/>
        </p:nvSpPr>
        <p:spPr>
          <a:xfrm>
            <a:off x="548640" y="3419856"/>
            <a:ext cx="5387188" cy="914400"/>
          </a:xfrm>
          <a:prstGeom prst="roundRect">
            <a:avLst>
              <a:gd name="adj" fmla="val 8000"/>
            </a:avLst>
          </a:prstGeom>
          <a:solidFill>
            <a:srgbClr val="1623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777240" y="3419856"/>
            <a:ext cx="49299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Calibration-only</a:t>
            </a:r>
            <a:endParaRPr lang="en-US" sz="14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(&lt;2 min) — when &lt;500 new samples</a:t>
            </a:r>
            <a:endParaRPr lang="en-US" sz="1450" dirty="0"/>
          </a:p>
        </p:txBody>
      </p:sp>
      <p:sp>
        <p:nvSpPr>
          <p:cNvPr id="28" name="Shape 25"/>
          <p:cNvSpPr/>
          <p:nvPr/>
        </p:nvSpPr>
        <p:spPr>
          <a:xfrm>
            <a:off x="6255868" y="3419856"/>
            <a:ext cx="5387188" cy="914400"/>
          </a:xfrm>
          <a:prstGeom prst="roundRect">
            <a:avLst>
              <a:gd name="adj" fmla="val 8000"/>
            </a:avLst>
          </a:prstGeom>
          <a:solidFill>
            <a:srgbClr val="1623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6484468" y="3419856"/>
            <a:ext cx="49299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Retrain</a:t>
            </a:r>
            <a:endParaRPr lang="en-US" sz="14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model — requires phishing recall ≥ current production to promote</a:t>
            </a:r>
            <a:endParaRPr lang="en-US" sz="1450" dirty="0"/>
          </a:p>
        </p:txBody>
      </p:sp>
      <p:sp>
        <p:nvSpPr>
          <p:cNvPr id="30" name="Text 27"/>
          <p:cNvSpPr/>
          <p:nvPr/>
        </p:nvSpPr>
        <p:spPr>
          <a:xfrm>
            <a:off x="548640" y="4517136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automatic deployment</a:t>
            </a: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human gates every model promotion.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Email Triage — Status Update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icons/ro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259" y="61081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Status &amp; Roadmap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325880"/>
            <a:ext cx="310896" cy="310896"/>
          </a:xfrm>
          <a:prstGeom prst="ellipse">
            <a:avLst/>
          </a:prstGeom>
          <a:solidFill>
            <a:srgbClr val="3FBF7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1" descr="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" y="1380744"/>
            <a:ext cx="201168" cy="2011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05840" y="1271016"/>
            <a:ext cx="1063721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build phases complete (Pipeline, API, Feedback, Retraining, Demo UI, Docker)</a:t>
            </a:r>
            <a:endParaRPr lang="en-US" sz="1450" dirty="0"/>
          </a:p>
        </p:txBody>
      </p:sp>
      <p:sp>
        <p:nvSpPr>
          <p:cNvPr id="8" name="Shape 4"/>
          <p:cNvSpPr/>
          <p:nvPr/>
        </p:nvSpPr>
        <p:spPr>
          <a:xfrm>
            <a:off x="548640" y="1783080"/>
            <a:ext cx="310896" cy="310896"/>
          </a:xfrm>
          <a:prstGeom prst="ellipse">
            <a:avLst/>
          </a:prstGeom>
          <a:solidFill>
            <a:srgbClr val="3FBF7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2" descr="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" y="1837944"/>
            <a:ext cx="201168" cy="20116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05840" y="1728216"/>
            <a:ext cx="1063721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149 tests, all passing</a:t>
            </a:r>
            <a:endParaRPr lang="en-US" sz="1450" dirty="0"/>
          </a:p>
        </p:txBody>
      </p:sp>
      <p:sp>
        <p:nvSpPr>
          <p:cNvPr id="11" name="Shape 6"/>
          <p:cNvSpPr/>
          <p:nvPr/>
        </p:nvSpPr>
        <p:spPr>
          <a:xfrm>
            <a:off x="548640" y="2240280"/>
            <a:ext cx="310896" cy="310896"/>
          </a:xfrm>
          <a:prstGeom prst="ellipse">
            <a:avLst/>
          </a:prstGeom>
          <a:solidFill>
            <a:srgbClr val="3FBF7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3" descr="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" y="2295144"/>
            <a:ext cx="201168" cy="20116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05840" y="2185416"/>
            <a:ext cx="1063721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validated: 98.01% phishing recall, 98.8% auto-classify</a:t>
            </a:r>
            <a:endParaRPr lang="en-US" sz="1450" dirty="0"/>
          </a:p>
        </p:txBody>
      </p:sp>
      <p:sp>
        <p:nvSpPr>
          <p:cNvPr id="14" name="Shape 8"/>
          <p:cNvSpPr/>
          <p:nvPr/>
        </p:nvSpPr>
        <p:spPr>
          <a:xfrm>
            <a:off x="548640" y="2697480"/>
            <a:ext cx="310896" cy="310896"/>
          </a:xfrm>
          <a:prstGeom prst="ellipse">
            <a:avLst/>
          </a:prstGeom>
          <a:solidFill>
            <a:srgbClr val="E0A62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4" descr="icons/proble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" y="2752344"/>
            <a:ext cx="201168" cy="20116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005840" y="2642616"/>
            <a:ext cx="1063721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</a:t>
            </a:r>
            <a:r>
              <a:rPr lang="en-US" sz="145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step: Building out the surrounding system (explanability, monitoring, integration, feedback loop)</a:t>
            </a:r>
            <a:endParaRPr lang="en-US" sz="1450" dirty="0"/>
          </a:p>
        </p:txBody>
      </p:sp>
      <p:sp>
        <p:nvSpPr>
          <p:cNvPr id="17" name="Text 10"/>
          <p:cNvSpPr/>
          <p:nvPr/>
        </p:nvSpPr>
        <p:spPr>
          <a:xfrm>
            <a:off x="548640" y="3474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800" dirty="0"/>
          </a:p>
        </p:txBody>
      </p:sp>
      <p:sp>
        <p:nvSpPr>
          <p:cNvPr id="18" name="Shape 11"/>
          <p:cNvSpPr/>
          <p:nvPr/>
        </p:nvSpPr>
        <p:spPr>
          <a:xfrm>
            <a:off x="548640" y="3931920"/>
            <a:ext cx="3484778" cy="1920240"/>
          </a:xfrm>
          <a:prstGeom prst="roundRect">
            <a:avLst>
              <a:gd name="adj" fmla="val 3810"/>
            </a:avLst>
          </a:prstGeom>
          <a:solidFill>
            <a:srgbClr val="1623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2"/>
          <p:cNvSpPr/>
          <p:nvPr/>
        </p:nvSpPr>
        <p:spPr>
          <a:xfrm>
            <a:off x="749808" y="4114800"/>
            <a:ext cx="30824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Near-term</a:t>
            </a:r>
            <a:endParaRPr lang="en-US" sz="1500" dirty="0"/>
          </a:p>
        </p:txBody>
      </p:sp>
      <p:sp>
        <p:nvSpPr>
          <p:cNvPr id="20" name="Text 13"/>
          <p:cNvSpPr/>
          <p:nvPr/>
        </p:nvSpPr>
        <p:spPr>
          <a:xfrm>
            <a:off x="749808" y="4572000"/>
            <a:ext cx="308244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production model, plus build surrounding system</a:t>
            </a:r>
            <a:endParaRPr lang="en-US" sz="1300" dirty="0"/>
          </a:p>
        </p:txBody>
      </p:sp>
      <p:sp>
        <p:nvSpPr>
          <p:cNvPr id="21" name="Shape 14"/>
          <p:cNvSpPr/>
          <p:nvPr/>
        </p:nvSpPr>
        <p:spPr>
          <a:xfrm>
            <a:off x="4353458" y="3931920"/>
            <a:ext cx="3484778" cy="1920240"/>
          </a:xfrm>
          <a:prstGeom prst="roundRect">
            <a:avLst>
              <a:gd name="adj" fmla="val 3810"/>
            </a:avLst>
          </a:prstGeom>
          <a:solidFill>
            <a:srgbClr val="1623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5"/>
          <p:cNvSpPr/>
          <p:nvPr/>
        </p:nvSpPr>
        <p:spPr>
          <a:xfrm>
            <a:off x="4554626" y="4114800"/>
            <a:ext cx="30824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Mid-term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4554626" y="4572000"/>
            <a:ext cx="308244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 analyst samples → retrain → improve calibration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8158277" y="3931920"/>
            <a:ext cx="3484778" cy="1920240"/>
          </a:xfrm>
          <a:prstGeom prst="roundRect">
            <a:avLst>
              <a:gd name="adj" fmla="val 3810"/>
            </a:avLst>
          </a:prstGeom>
          <a:solidFill>
            <a:srgbClr val="1623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18"/>
          <p:cNvSpPr/>
          <p:nvPr/>
        </p:nvSpPr>
        <p:spPr>
          <a:xfrm>
            <a:off x="8359445" y="4114800"/>
            <a:ext cx="30824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</a:t>
            </a:r>
            <a:endParaRPr lang="en-US" sz="1500" dirty="0"/>
          </a:p>
        </p:txBody>
      </p:sp>
      <p:sp>
        <p:nvSpPr>
          <p:cNvPr id="26" name="Text 19"/>
          <p:cNvSpPr/>
          <p:nvPr/>
        </p:nvSpPr>
        <p:spPr>
          <a:xfrm>
            <a:off x="8359445" y="4572000"/>
            <a:ext cx="308244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100k+ samples → transformer revival → two-stage router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28" name="Text 21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Email Triage — Status Update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97280" y="1298448"/>
            <a:ext cx="105457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and validated 3 model architectures through rigorous experimentation.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48640" y="1993392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9933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97280" y="1920240"/>
            <a:ext cx="105457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Thorough </a:t>
            </a:r>
            <a:r>
              <a:rPr lang="en-US" sz="15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— integrity pipeline, multimodal features, strict evaluation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548640" y="2615184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26151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97280" y="2542032"/>
            <a:ext cx="105457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about data scale — and built the system that solves it over time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548640" y="3236976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32369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97280" y="3163824"/>
            <a:ext cx="105457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98% phishing recall today with LightGBM — architecture evolves as data grows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548640" y="3858768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" y="3858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97280" y="3785616"/>
            <a:ext cx="105457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gets better the more it's used — production generates training data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548640" y="4663440"/>
            <a:ext cx="11094415" cy="1234440"/>
          </a:xfrm>
          <a:prstGeom prst="roundRect">
            <a:avLst>
              <a:gd name="adj" fmla="val 7407"/>
            </a:avLst>
          </a:prstGeom>
          <a:solidFill>
            <a:srgbClr val="1623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68680" y="4663440"/>
            <a:ext cx="1045433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built a system that meets the </a:t>
            </a:r>
            <a:r>
              <a:rPr lang="en-US" sz="1600" b="1" i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 phishing recall</a:t>
            </a: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target today, and gets better every day it runs through a built-in feedback loop that turns analyst expertise into training data.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Email Triage — Status Update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1314</Words>
  <Application>Microsoft Macintosh PowerPoint</Application>
  <PresentationFormat>Widescreen</PresentationFormat>
  <Paragraphs>247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Barclays SOC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Intelligent Email Triage — Status Update</dc:title>
  <dc:subject>Intelligent Email Triage — Status Update</dc:subject>
  <dc:creator>Intelligent Email Triage Project</dc:creator>
  <cp:lastModifiedBy>Darshan  Atkari</cp:lastModifiedBy>
  <cp:revision>1</cp:revision>
  <dcterms:created xsi:type="dcterms:W3CDTF">2026-07-27T17:03:31Z</dcterms:created>
  <dcterms:modified xsi:type="dcterms:W3CDTF">2026-07-27T17:38:23Z</dcterms:modified>
</cp:coreProperties>
</file>